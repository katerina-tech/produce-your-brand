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minutes, then five for questions. The claim in one line: a production request goes in as plain English, a supplier-ready RFQ comes out, and no supplier fact is ever generated by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reads one slide, it is this one. Every number carries its provenance marker: M measured, D derived, 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argument in thirty seconds, in SCR order. Situation: a real industry with a routine need. Complication: the need is a feasibility question, and feasibility data does not exist in any searchable form. Resolution: structure the request, answer feasibility in code rather than in the model, and hand back something the user can send. Everything after this slide is evidence for the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unknown is individually knowable. The cost is that they are discovered serially, by email, over days — and the same brief must be re-explained to every supplier.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rows carry the whole argument: reproducibility, and unconfirmed treated as distinct from no. The moat is not the model — any competitor can call the same model. It is the structured capability data plus deterministic logic 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nesting is definitional, not proportional. All three market figures are estimates and labelled as such. The point of the money column is not the ceiling number — it is that serving a project costs a tenth of a cent, so the business question is distribution and supplier data, never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design decision, from which every guarantee in the system follows. Where a judgement is linguistic, the model does it. Where an answer must be the same twice, code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StateGraph, four phases, five interrupt points. The red node is the agentic decision — whether to retrieve at all — and it is the subject of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here means a measurable branch that changes cost and output, not a framework label. If the router itself fails it errs toward retrieving: an unnecessary lookup costs $0.0002, a confident wrong technical claim costs a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datasets. The knowledge base is curated by hand and cited by name. The supplier and offer records are synthetic, and every row says so — website is null throughout, data_source reads synthetic, and a validator refuses an offer that is both demo and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core of the product, and the hardest thing to copy, because it is a modelling decision rather than a feature. It shaped the schema, the scorer, the interface and the test suite. Three eval cases exist solely to pin it: 12, 14 and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Measured, not modelled: 4,124 input tokens per full run, counted with tiktoken and validated against the provider's own accounting — measured 614 against a reported 625 on the extraction prompt, a 1.8%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table in docs/eval.md is generated by the harness, and the write flag refuses to update the document while any case fails. A published result cannot silently diverge from behaviour. The eval verifies that the stated rules hold — not that the weighting is correct; that is a question for customer evidence, not for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transferable lesson is not write more tests. Both defects lived in code paths that were mocked away everywhere else — the image provider and the past-deadline branch were each invisible to a suite that otherwise passed 300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by impact on usefulness rather than by effort. Items 1 and 3 are not the same kind of work — one is field work, the other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claim and take questions. The appendix has repository metrics, the security layers, the on-device embedding option, and prepared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E1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CAPSTONE · TURING COLLEGE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34752" y="3075781"/>
            <a:ext cx="17131586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010"/>
              </a:lnSpc>
              <a:buNone/>
            </a:pPr>
            <a:r>
              <a:rPr lang="en-US" sz="14700" b="1" spc="-514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Your Brand</a:t>
            </a:r>
            <a:endParaRPr lang="en-US" sz="14700" dirty="0"/>
          </a:p>
        </p:txBody>
      </p:sp>
      <p:sp>
        <p:nvSpPr>
          <p:cNvPr id="4" name="Shape 2"/>
          <p:cNvSpPr/>
          <p:nvPr/>
        </p:nvSpPr>
        <p:spPr>
          <a:xfrm>
            <a:off x="1143000" y="5439470"/>
            <a:ext cx="16002000" cy="1905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5668070"/>
            <a:ext cx="1648206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93"/>
              </a:lnSpc>
              <a:buNone/>
            </a:pPr>
            <a:r>
              <a:rPr lang="en-US" sz="2850" b="1" spc="228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PRODUCT IDEA TO READY-TO-SEND SUPPLIER REQUEST.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43000" y="6334820"/>
            <a:ext cx="791512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 to produce. Produce Your Brand helps you understand how it can be made, find suitable suppliers, and prepare a ready-to-send request.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9583738"/>
            <a:ext cx="2630398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Ekaterina Kuznetsova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705721" y="9583738"/>
            <a:ext cx="15875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959721" y="9583738"/>
            <a:ext cx="3837275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produceyourstuff.up.railway.app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19604" y="9583738"/>
            <a:ext cx="15875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73603" y="9583738"/>
            <a:ext cx="1413917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commits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30432" y="9583738"/>
            <a:ext cx="15875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84432" y="9583738"/>
            <a:ext cx="1089422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 tests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sourcing assistant for custom physical products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390775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543175"/>
            <a:ext cx="17602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2962275"/>
            <a:ext cx="917438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49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what you want to produce — 100 yoga mats with a gold logo. It writes the production brief, asks what is missing, proposes a method, finds suppliers who can actually take the job, and drafts the request to send them.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52863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438775"/>
            <a:ext cx="5532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5857875"/>
            <a:ext cx="5180076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custom order starts with the same question: </a:t>
            </a:r>
            <a:pPr algn="l" indent="0" marL="0">
              <a:lnSpc>
                <a:spcPct val="121277"/>
              </a:lnSpc>
              <a:buNone/>
            </a:pPr>
            <a:r>
              <a:rPr lang="en-US" sz="2025" i="1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this be made, and by whom?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 is answered by email, over days. That is a reasoning problem, not a search problem — which is exactly what an agent is for.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629400" y="52863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5438775"/>
            <a:ext cx="5532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29400" y="5857875"/>
            <a:ext cx="5180076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 that stops and asks the user before each important step. </a:t>
            </a:r>
            <a:pPr algn="l" indent="0" marL="0">
              <a:lnSpc>
                <a:spcPct val="121277"/>
              </a:lnSpc>
              <a:buNone/>
            </a:pPr>
            <a:r>
              <a:rPr lang="en-US" sz="202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writes the language; ordinary code decides every fact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supplier matching contains no model calls at all.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115800" y="52863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115800" y="5438775"/>
            <a:ext cx="55321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115800" y="5857875"/>
            <a:ext cx="5180076" cy="149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end to end at </a:t>
            </a:r>
            <a:pPr algn="l" indent="0" marL="0">
              <a:lnSpc>
                <a:spcPct val="121277"/>
              </a:lnSpc>
              <a:buNone/>
            </a:pPr>
            <a:r>
              <a:rPr lang="en-US" sz="202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$0.0011 per project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308 automated tests. </a:t>
            </a:r>
            <a:pPr algn="l" indent="0" marL="0">
              <a:lnSpc>
                <a:spcPct val="121277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records are synthetic and labelled as such: the algorithm is real, the partners are not.</a:t>
            </a:r>
            <a:endParaRPr lang="en-US" sz="202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 in three steps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38125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01320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4300"/>
            <a:ext cx="19543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2550" b="1" spc="153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3105150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800" b="1" spc="144" kern="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14900" y="2628900"/>
            <a:ext cx="10107525" cy="1193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regularly need something custom made — 100 yoga mats with a gold logo, 500 branded bottles before a trade fair. German promotional-products and custom-print production is a €3–4bn industry doing exactly this work. </a:t>
            </a:r>
            <a:pPr algn="l" indent="0" marL="0">
              <a:lnSpc>
                <a:spcPct val="122449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[E]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143000" y="677545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286250"/>
            <a:ext cx="2754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2550" b="1" spc="153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" y="4737100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800" b="1" spc="144" kern="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TWO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4900" y="4260850"/>
            <a:ext cx="1010752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not finding printers. It is establishing whether the job can be made at all: material, technique, minimum quantity, deadline, and whether a supplier will work on goods the customer already owns. Those facts sit in no searchable database — they are discovered one email at a time, over days. Search cannot answer them, and a general chat assistant answers differently each time it is asked.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143000" y="880110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48500"/>
            <a:ext cx="23758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2550" b="1" spc="153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43000" y="7499350"/>
            <a:ext cx="33356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800" b="1" spc="144" kern="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THREE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4900" y="7023100"/>
            <a:ext cx="10107525" cy="158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Your Brand turns the plain-language request into a structured brief and settles feasibility </a:t>
            </a:r>
            <a:pPr algn="l" indent="0" marL="0">
              <a:lnSpc>
                <a:spcPct val="122449"/>
              </a:lnSpc>
              <a:buNone/>
            </a:pPr>
            <a:r>
              <a:rPr lang="en-US" sz="21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code rather than in the model </a:t>
            </a:r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matching on real constraints, treating </a:t>
            </a:r>
            <a:pPr algn="l" indent="0" marL="0">
              <a:lnSpc>
                <a:spcPct val="122449"/>
              </a:lnSpc>
              <a:buNone/>
            </a:pPr>
            <a:r>
              <a:rPr lang="en-US" sz="2175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</a:t>
            </a:r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distinct from </a:t>
            </a:r>
            <a:pPr algn="l" indent="0" marL="0">
              <a:lnSpc>
                <a:spcPct val="122449"/>
              </a:lnSpc>
              <a:buNone/>
            </a:pPr>
            <a:r>
              <a:rPr lang="en-US" sz="2175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pPr algn="l" indent="0" marL="0">
              <a:lnSpc>
                <a:spcPct val="12244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returning a request the user can send. Same input, same answer, every time, at $0.0011 per project.</a:t>
            </a:r>
            <a:pPr algn="l" indent="0" marL="0">
              <a:lnSpc>
                <a:spcPct val="122449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9100840"/>
            <a:ext cx="16344900" cy="21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after this slide is evidence for the resolution.</a:t>
            </a:r>
            <a:endParaRPr lang="en-US" sz="20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feasibility reasoning, not search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151956"/>
            <a:ext cx="15304770" cy="705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sequential unknowns, each of which can invalidate the order — and the buyer discovers them one at a time.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3505200"/>
            <a:ext cx="17602200" cy="21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example, used throughout: </a:t>
            </a:r>
            <a:pPr algn="l" indent="0" marL="0">
              <a:lnSpc>
                <a:spcPct val="121277"/>
              </a:lnSpc>
              <a:buNone/>
            </a:pPr>
            <a:r>
              <a:rPr lang="en-US" sz="2025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black yoga mats, PVC, customer already owns them, gold logo, Berlin.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143000" y="5327452"/>
            <a:ext cx="60870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51297"/>
            <a:ext cx="227707" cy="55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51707" y="5327452"/>
            <a:ext cx="3626446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980307" y="4651297"/>
            <a:ext cx="3278039" cy="55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78153" y="5327452"/>
            <a:ext cx="6701532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06753" y="4651297"/>
            <a:ext cx="6445378" cy="55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BLOCKS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79685" y="5327452"/>
            <a:ext cx="3922316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308285" y="4651297"/>
            <a:ext cx="3582785" cy="55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GETTING IT WRONG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6214467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5501721"/>
            <a:ext cx="227707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751707" y="6214467"/>
            <a:ext cx="36264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980307" y="5501721"/>
            <a:ext cx="3278039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technique physically possible?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378153" y="6214467"/>
            <a:ext cx="670153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06753" y="5501721"/>
            <a:ext cx="6445378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under a laser releases hydrogen chloride. No reputable shop will do it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079685" y="6214467"/>
            <a:ext cx="392231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08285" y="5501721"/>
            <a:ext cx="3582785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lost pursuing an impossible route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43000" y="7082433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376037"/>
            <a:ext cx="227707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751707" y="7082433"/>
            <a:ext cx="36264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980307" y="6376037"/>
            <a:ext cx="3278039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accepts customer-owned goods?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378153" y="7082433"/>
            <a:ext cx="670153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606753" y="6376037"/>
            <a:ext cx="6445378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producers only work on stock they supply, and most enquiries never think to ask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2079685" y="7082433"/>
            <a:ext cx="392231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308285" y="6376037"/>
            <a:ext cx="3582785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arrives, then collapses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143000" y="7582099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" y="7244002"/>
            <a:ext cx="227707" cy="22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751707" y="7582099"/>
            <a:ext cx="36264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980307" y="7244002"/>
            <a:ext cx="3278039" cy="22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MOQ fit?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378153" y="7582099"/>
            <a:ext cx="670153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606753" y="7244002"/>
            <a:ext cx="6445378" cy="22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units sits below many minimums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2079685" y="7582099"/>
            <a:ext cx="392231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308285" y="7244002"/>
            <a:ext cx="3582785" cy="220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disqualification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43000" y="8443714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95400" y="7743668"/>
            <a:ext cx="227707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751707" y="8443714"/>
            <a:ext cx="36264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980307" y="7743668"/>
            <a:ext cx="3278039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deadline feasible?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5378153" y="8443714"/>
            <a:ext cx="670153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606753" y="7743668"/>
            <a:ext cx="6445378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plus buffer against the date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2079685" y="8443714"/>
            <a:ext cx="392231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308285" y="7743668"/>
            <a:ext cx="3582785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delivery that cannot be met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143000" y="8733929"/>
            <a:ext cx="16344900" cy="21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scarce resource is not a directory of printers. It is structured reasoning over capability constraints.</a:t>
            </a:r>
            <a:endParaRPr lang="en-US" sz="2025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search nor a general chat assistant closes this gap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30153"/>
            <a:ext cx="393938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8174"/>
            <a:ext cx="3676563" cy="516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82382" y="3130153"/>
            <a:ext cx="31471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72882" y="2588174"/>
            <a:ext cx="2860533" cy="516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FLYERALARM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501" y="3130153"/>
            <a:ext cx="342721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420001" y="2588174"/>
            <a:ext cx="3149030" cy="516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CHAT ASSISTANT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656715" y="3130153"/>
            <a:ext cx="4345285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47215" y="2588174"/>
            <a:ext cx="4094644" cy="516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YOUR BRAND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456880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218212"/>
            <a:ext cx="3952319" cy="20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printers in a city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082382" y="3456880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15526" y="3214603"/>
            <a:ext cx="3080831" cy="21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8229501" y="3456880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48640" y="3214603"/>
            <a:ext cx="3388935" cy="21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656715" y="3456880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629951" y="3214603"/>
            <a:ext cx="4398814" cy="21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3764558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3532239"/>
            <a:ext cx="3952319" cy="20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technique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082382" y="3764558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15526" y="3528630"/>
            <a:ext cx="3080831" cy="20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229501" y="3764558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48640" y="3528630"/>
            <a:ext cx="3388935" cy="20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656715" y="3764558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847215" y="3532239"/>
            <a:ext cx="4398814" cy="20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with citation to a specific document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4395986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" y="3839917"/>
            <a:ext cx="367656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an unsafe pairing (PVC + laser)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082382" y="4395986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25675" y="3836308"/>
            <a:ext cx="2860533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8229501" y="4395986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368593" y="3836308"/>
            <a:ext cx="3149030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1656715" y="4395986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847215" y="3839917"/>
            <a:ext cx="409464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grounded in the corpus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143000" y="4703663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4471345"/>
            <a:ext cx="3952319" cy="20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published MOQ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5082382" y="4703663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115526" y="4467736"/>
            <a:ext cx="3080831" cy="20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8229501" y="4703663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48640" y="4467736"/>
            <a:ext cx="3388935" cy="20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656715" y="4703663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629951" y="4467736"/>
            <a:ext cx="4398814" cy="208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43000" y="5335092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333500" y="4779022"/>
            <a:ext cx="367656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customer-owned-goods policy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5082382" y="5335092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25675" y="4775413"/>
            <a:ext cx="2860533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8229501" y="5335092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368593" y="4775413"/>
            <a:ext cx="3149030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656715" y="5335092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1847215" y="4779022"/>
            <a:ext cx="409464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including unconfirmed as distinct from no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43000" y="5966520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333500" y="5410450"/>
            <a:ext cx="367656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feasibility against lead time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5082382" y="5966520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225675" y="5406841"/>
            <a:ext cx="2860533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8229501" y="5966520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368593" y="5406841"/>
            <a:ext cx="3149030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1656715" y="5966520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782036" y="5406841"/>
            <a:ext cx="4094644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143000" y="5972870"/>
            <a:ext cx="14859000" cy="631428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61" name="Shape 59"/>
          <p:cNvSpPr/>
          <p:nvPr/>
        </p:nvSpPr>
        <p:spPr>
          <a:xfrm>
            <a:off x="1143000" y="6597948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333500" y="6041878"/>
            <a:ext cx="367656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 to a reworded question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5082382" y="6597948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225675" y="6038270"/>
            <a:ext cx="2860533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8229501" y="6597948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368593" y="6038270"/>
            <a:ext cx="3149030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11656715" y="6597948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1847215" y="6041878"/>
            <a:ext cx="409464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byte-identical, tie order included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1143000" y="6604298"/>
            <a:ext cx="14859000" cy="631428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70" name="Shape 68"/>
          <p:cNvSpPr/>
          <p:nvPr/>
        </p:nvSpPr>
        <p:spPr>
          <a:xfrm>
            <a:off x="1143000" y="7229376"/>
            <a:ext cx="393938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333500" y="6673307"/>
            <a:ext cx="367656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reason per factor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5082382" y="7229376"/>
            <a:ext cx="314712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225675" y="6669698"/>
            <a:ext cx="2860533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8229501" y="7229376"/>
            <a:ext cx="342721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368593" y="6669698"/>
            <a:ext cx="3149030" cy="532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226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11656715" y="7229376"/>
            <a:ext cx="434528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1847215" y="6673307"/>
            <a:ext cx="409464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six factors, each with a computed reason</a:t>
            </a:r>
            <a:endParaRPr lang="en-US" sz="1875" dirty="0"/>
          </a:p>
        </p:txBody>
      </p:sp>
      <p:sp>
        <p:nvSpPr>
          <p:cNvPr id="78" name="Text 76"/>
          <p:cNvSpPr/>
          <p:nvPr/>
        </p:nvSpPr>
        <p:spPr>
          <a:xfrm>
            <a:off x="1143000" y="7519591"/>
            <a:ext cx="16344900" cy="21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is proprietary structured capability data, not language ability.</a:t>
            </a:r>
            <a:endParaRPr lang="en-US" sz="2025" dirty="0"/>
          </a:p>
        </p:txBody>
      </p:sp>
      <p:pic>
        <p:nvPicPr>
          <p:cNvPr id="7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6518442" cy="116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segment, but one where the unit economics are not the constraint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971800"/>
            <a:ext cx="16002000" cy="844848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143250"/>
            <a:ext cx="1990725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505200" y="3276600"/>
            <a:ext cx="9890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28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promotional-products and custom-print production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801600" y="3238500"/>
            <a:ext cx="45053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~€3–4bn annual revenue </a:t>
            </a:r>
            <a:pPr algn="l" indent="0" marL="0">
              <a:lnSpc>
                <a:spcPct val="11020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[E]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2000250" y="3797598"/>
            <a:ext cx="15144750" cy="10858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7900" y="3969048"/>
            <a:ext cx="1990725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362450" y="4102398"/>
            <a:ext cx="83783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28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Non-standard requests — unusual material, customer-owned goods, odd quantity, tight deadline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801600" y="4064298"/>
            <a:ext cx="45053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~15–25% of enquiries </a:t>
            </a:r>
            <a:pPr algn="l" indent="0" marL="0">
              <a:lnSpc>
                <a:spcPct val="11020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[E]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2857500" y="4864398"/>
            <a:ext cx="14287500" cy="10858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5150" y="5035848"/>
            <a:ext cx="1990725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219700" y="5169198"/>
            <a:ext cx="74954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628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Intermediaries who source repeatedly — distributors, merch and event agencies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801600" y="5131098"/>
            <a:ext cx="45053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~3,000–5,000 firms </a:t>
            </a:r>
            <a:pPr algn="l" indent="0" marL="0">
              <a:lnSpc>
                <a:spcPct val="11020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[E]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143000" y="6397923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444953"/>
            <a:ext cx="5532120" cy="229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10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would pay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6701135"/>
            <a:ext cx="5180076" cy="8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business ordering once a year. The intermediary sourcing weekly, for whom every hour of email is billable time lost.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629400" y="6397923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6444953"/>
            <a:ext cx="5532120" cy="229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10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customer costs to serve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6701135"/>
            <a:ext cx="5180076" cy="8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$0.0011 per project run. A $249 monthly seat funds roughly 231,000 runs before compute is material. </a:t>
            </a:r>
            <a:pPr algn="l" indent="0" marL="0">
              <a:lnSpc>
                <a:spcPct val="118605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[M][D]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115800" y="6397923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115800" y="6444953"/>
            <a:ext cx="5532120" cy="229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10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on the wedge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115800" y="6701135"/>
            <a:ext cx="5180076" cy="855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firms at €249 a month is ≈€12m a year fully served. </a:t>
            </a:r>
            <a:pPr algn="l" indent="0" marL="0">
              <a:lnSpc>
                <a:spcPct val="118605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[D]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— but at software margin, and nobody serves it today.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43000" y="7975699"/>
            <a:ext cx="14859000" cy="1111250"/>
          </a:xfrm>
          <a:prstGeom prst="rect">
            <a:avLst/>
          </a:prstGeom>
          <a:ln w="19050">
            <a:solidFill>
              <a:srgbClr val="EC30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09700" y="8185249"/>
            <a:ext cx="14771370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81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market figures are [E] </a:t>
            </a:r>
            <a:pPr algn="l" indent="0" marL="0">
              <a:lnSpc>
                <a:spcPct val="12558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order-of-magnitude, from industry reporting and interview inference. They frame the segment; they do not yet size a business case.</a:t>
            </a:r>
            <a:endParaRPr lang="en-US" sz="1875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handles language; code owns every fact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448050"/>
            <a:ext cx="148590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00300"/>
            <a:ext cx="148590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47950"/>
            <a:ext cx="153047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9"/>
              </a:lnSpc>
              <a:buNone/>
            </a:pPr>
            <a:r>
              <a:rPr lang="en-US" sz="3600" b="1" spc="-5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touches a number that matters.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143000" y="40290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176812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owns language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9645" y="4485878"/>
            <a:ext cx="8021955" cy="1493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brief from free text — natural language into a typed object</a:t>
            </a:r>
            <a:endParaRPr lang="en-US" sz="1950" dirty="0"/>
          </a:p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method, with retrieval and citations — real technical reasoning</a:t>
            </a:r>
            <a:endParaRPr lang="en-US" sz="1950" dirty="0"/>
          </a:p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explanation prose, over a score it cannot alter</a:t>
            </a:r>
            <a:endParaRPr lang="en-US" sz="1950" dirty="0"/>
          </a:p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intro and closing — tone only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72600" y="40290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4176812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owns every fact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72600" y="4485878"/>
            <a:ext cx="854964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fields are missing — </a:t>
            </a:r>
            <a:pPr algn="l" indent="0" marL="0">
              <a:lnSpc>
                <a:spcPct val="122727"/>
              </a:lnSpc>
              <a:buNone/>
            </a:pPr>
            <a:r>
              <a:rPr lang="en-US" sz="1950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field null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a judgement call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72600" y="4800104"/>
            <a:ext cx="854964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search — a structural filter that must not depend on phrasing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372600" y="5114330"/>
            <a:ext cx="854964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scoring — reproducible and defensible arithmetic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72600" y="5428556"/>
            <a:ext cx="854964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structure — a document shape is a contract, not a generation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graph, five interrupts, two memory stores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476500"/>
            <a:ext cx="16002000" cy="533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568035"/>
            <a:ext cx="11872643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squares mark the five human interrupt points; four are approval gates. Python 3.12 · FastAPI · LangGraph · LangChain · OpenAI via OpenRouter · FAISS · fastembed · SQLite · TypeScript · Next.js · Tailwind · Leaflet · Docker · Railway.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6518442" cy="116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decides whether to retrieve, and the decision changes the answer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76575"/>
            <a:ext cx="93268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224312"/>
            <a:ext cx="10259546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ladder — cheapest signal first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3619500"/>
            <a:ext cx="93268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790950"/>
            <a:ext cx="685800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057400" y="3892550"/>
            <a:ext cx="5015235" cy="10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fast path — </a:t>
            </a:r>
            <a:pPr algn="l" indent="0" marL="0">
              <a:lnSpc>
                <a:spcPct val="114894"/>
              </a:lnSpc>
              <a:buNone/>
            </a:pPr>
            <a:r>
              <a:rPr lang="en-US" sz="2025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Berlin suppliers do laser engraving? </a:t>
            </a:r>
            <a:pPr algn="l" indent="0" marL="0">
              <a:lnSpc>
                <a:spcPct val="11489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straight to the supplier repository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907510" y="390525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58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model calls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5086350"/>
            <a:ext cx="846961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257800"/>
            <a:ext cx="685800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057400" y="5365750"/>
            <a:ext cx="413226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 on the brief — material unconfirmed, so feasibility cannot be assumed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050260" y="537210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581"/>
              </a:lnSpc>
              <a:buNone/>
            </a:pPr>
            <a:r>
              <a:rPr lang="en-US" sz="1875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model calls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8007350"/>
            <a:ext cx="76123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6546850"/>
            <a:ext cx="76123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718300"/>
            <a:ext cx="685800" cy="540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92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057400" y="6826250"/>
            <a:ext cx="32493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only the genuinely ambiguous middle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193010" y="6826250"/>
            <a:ext cx="3562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581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classifier call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927061" y="3076575"/>
            <a:ext cx="621794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61" y="3224312"/>
            <a:ext cx="6839734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retrieval off against on </a:t>
            </a:r>
            <a:pPr algn="l" indent="0" marL="0">
              <a:lnSpc>
                <a:spcPct val="93750"/>
              </a:lnSpc>
              <a:buNone/>
            </a:pPr>
            <a:r>
              <a:rPr lang="en-US" sz="1800" b="1" spc="-3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927061" y="3873103"/>
            <a:ext cx="196959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896652" y="3873103"/>
            <a:ext cx="1823045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087152" y="3654974"/>
            <a:ext cx="1624350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719697" y="3873103"/>
            <a:ext cx="2425303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910197" y="3654974"/>
            <a:ext cx="2286833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27061" y="4199731"/>
            <a:ext cx="196959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117561" y="3961162"/>
            <a:ext cx="1785551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896652" y="4199731"/>
            <a:ext cx="182304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087152" y="3961162"/>
            <a:ext cx="1624350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4719697" y="4199731"/>
            <a:ext cx="242530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910197" y="3961162"/>
            <a:ext cx="2286833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927061" y="4831160"/>
            <a:ext cx="196959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117561" y="4275090"/>
            <a:ext cx="1664791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returned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2896652" y="4831160"/>
            <a:ext cx="182304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087152" y="4275090"/>
            <a:ext cx="1518245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generic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4719697" y="4831160"/>
            <a:ext cx="242530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4910197" y="4275090"/>
            <a:ext cx="212050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specific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0927061" y="5462588"/>
            <a:ext cx="196959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117561" y="4906518"/>
            <a:ext cx="1664791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896652" y="5462588"/>
            <a:ext cx="182304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087152" y="4906518"/>
            <a:ext cx="1518245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of gold finish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4719697" y="5462588"/>
            <a:ext cx="242530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4910197" y="4906518"/>
            <a:ext cx="212050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PVC compound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0927061" y="6094016"/>
            <a:ext cx="196959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117561" y="5537946"/>
            <a:ext cx="1664791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2896652" y="6094016"/>
            <a:ext cx="1823045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3087152" y="5537946"/>
            <a:ext cx="1518245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4719697" y="6094016"/>
            <a:ext cx="242530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4910197" y="5537946"/>
            <a:ext cx="2120503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documents, named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143000" y="8307090"/>
            <a:ext cx="15304770" cy="57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retrieval_used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set in code from what was retrieved, never asserted by the model. Retrieved passages are fenced inside a user message like customer text, never the system prompt.</a:t>
            </a:r>
            <a:endParaRPr lang="en-US" sz="2025" dirty="0"/>
          </a:p>
        </p:txBody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688221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datasets, every record carrying its own provenance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151956"/>
            <a:ext cx="16344900" cy="286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is real; the partners are not — and the data says so in every row.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3569891"/>
            <a:ext cx="2253853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55686"/>
            <a:ext cx="1872853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96853" y="3569891"/>
            <a:ext cx="507890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25453" y="3255686"/>
            <a:ext cx="4774076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</a:t>
            </a:r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75762" y="3569891"/>
            <a:ext cx="7526238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04362" y="3255686"/>
            <a:ext cx="7294825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PROVENANCE, STATED IN THE DATA ITSELF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456906"/>
            <a:ext cx="225385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44160"/>
            <a:ext cx="1872853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396853" y="4456906"/>
            <a:ext cx="50789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25453" y="3744160"/>
            <a:ext cx="4774076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documents · 21,522 bytes · 51 indexed chunks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475762" y="4456906"/>
            <a:ext cx="75262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704362" y="3744160"/>
            <a:ext cx="7294825" cy="595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by hand; a recommendation cites the document by name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4463256"/>
            <a:ext cx="14859000" cy="867966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5324872"/>
            <a:ext cx="225385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618476"/>
            <a:ext cx="1872853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records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396853" y="5324872"/>
            <a:ext cx="50789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25453" y="4618476"/>
            <a:ext cx="4774076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records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475762" y="5324872"/>
            <a:ext cx="75262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704362" y="4618476"/>
            <a:ext cx="7294825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data_source: synthetic </a:t>
            </a:r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every row; </a:t>
            </a:r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</a:t>
            </a:r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</a:t>
            </a:r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43000" y="6186488"/>
            <a:ext cx="225385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5486442"/>
            <a:ext cx="1872853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396853" y="6186488"/>
            <a:ext cx="507890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25453" y="5486442"/>
            <a:ext cx="4774076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records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475762" y="6186488"/>
            <a:ext cx="752623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704362" y="5486442"/>
            <a:ext cx="7294825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is_demo: true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 validator refuses an offer that is both demo and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143000" y="675798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905724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prepared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143000" y="7214791"/>
            <a:ext cx="8005572" cy="5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into a FAISS index — an index file plus JSON, fingerprinted by the effective model name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7871917"/>
            <a:ext cx="854964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 capability stored as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defaulted to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43000" y="8186142"/>
            <a:ext cx="8005572" cy="5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 includes suppliers who refuse and suppliers never asked, so both branches are exercised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372600" y="675798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72600" y="6905724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cannot be sourced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372600" y="7214791"/>
            <a:ext cx="8005572" cy="89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supplier pricing cannot be reliably scraped — it lives in non-public business logic. Every offer is flagged demo, and substituting real records changes no schema.</a:t>
            </a:r>
            <a:endParaRPr lang="en-US" sz="195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is a third answer, not a soft no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151956"/>
            <a:ext cx="15304770" cy="705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data is incomplete. Treating a missing value as absence of capability is wrong in both directions.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43000" y="3505200"/>
            <a:ext cx="621784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652937"/>
            <a:ext cx="6839625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4301728"/>
            <a:ext cx="196889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083599"/>
            <a:ext cx="1784787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11897" y="4301728"/>
            <a:ext cx="424894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302397" y="4083599"/>
            <a:ext cx="4292838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952206"/>
            <a:ext cx="196889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389787"/>
            <a:ext cx="1664097" cy="53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3111897" y="4952206"/>
            <a:ext cx="424894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02397" y="4389787"/>
            <a:ext cx="3995412" cy="53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partners silently discarded; the buyer never learns they existed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5583635"/>
            <a:ext cx="196889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027565"/>
            <a:ext cx="1664097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111897" y="5583635"/>
            <a:ext cx="424894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02397" y="5027565"/>
            <a:ext cx="3995412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promised that nobody confirmed; the order collapses later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818041" y="3505200"/>
            <a:ext cx="93269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818041" y="3652937"/>
            <a:ext cx="10259656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resolution — three-way logic, end to end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818041" y="4301728"/>
            <a:ext cx="270123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008541" y="4083599"/>
            <a:ext cx="2590354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9272" y="4301728"/>
            <a:ext cx="159087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709772" y="4083599"/>
            <a:ext cx="1368961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110145" y="4301728"/>
            <a:ext cx="144343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00645" y="4083599"/>
            <a:ext cx="1206778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553580" y="4301728"/>
            <a:ext cx="359142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744080" y="4083599"/>
            <a:ext cx="3569563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TO THE BUYER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818041" y="4628356"/>
            <a:ext cx="270123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08541" y="4389787"/>
            <a:ext cx="2590354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capable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519272" y="4628356"/>
            <a:ext cx="159087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709772" y="4389787"/>
            <a:ext cx="1368961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points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110145" y="4628356"/>
            <a:ext cx="14434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2300645" y="4389787"/>
            <a:ext cx="1206778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3553580" y="4628356"/>
            <a:ext cx="35914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3744080" y="4389787"/>
            <a:ext cx="3569563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met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7818041" y="4634706"/>
            <a:ext cx="9326960" cy="631428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38" name="Shape 36"/>
          <p:cNvSpPr/>
          <p:nvPr/>
        </p:nvSpPr>
        <p:spPr>
          <a:xfrm>
            <a:off x="7818041" y="5259785"/>
            <a:ext cx="270123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008541" y="4703715"/>
            <a:ext cx="2401267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asked (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519272" y="5259785"/>
            <a:ext cx="159087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709772" y="4703715"/>
            <a:ext cx="128607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credit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110145" y="5259785"/>
            <a:ext cx="14434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2300645" y="4703715"/>
            <a:ext cx="113863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3553580" y="5259785"/>
            <a:ext cx="35914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3744080" y="4703715"/>
            <a:ext cx="331816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risk flag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7818041" y="5891213"/>
            <a:ext cx="270123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008541" y="5335143"/>
            <a:ext cx="2401267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refused (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0519272" y="5891213"/>
            <a:ext cx="159087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709772" y="5335143"/>
            <a:ext cx="128607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2110145" y="5891213"/>
            <a:ext cx="14434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300645" y="5335143"/>
            <a:ext cx="113863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3553580" y="5891213"/>
            <a:ext cx="35914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3744080" y="5335143"/>
            <a:ext cx="3318164" cy="52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incompatible — reported separately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143000" y="6181427"/>
            <a:ext cx="15304770" cy="93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stores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defaulting to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interface renders unknowns as </a:t>
            </a:r>
            <a:pPr algn="l" indent="0" marL="0">
              <a:lnSpc>
                <a:spcPct val="121277"/>
              </a:lnSpc>
              <a:buNone/>
            </a:pPr>
            <a:r>
              <a:rPr lang="en-US" sz="2025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specified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as blank; and the dataset deliberately includes suppliers who refuse and suppliers whose policy is unconfirmed, so both branches are exercised.</a:t>
            </a:r>
            <a:endParaRPr lang="en-US" sz="2025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EVALUATION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720" y="3079750"/>
            <a:ext cx="1789840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46"/>
              </a:lnSpc>
              <a:buNone/>
            </a:pPr>
            <a:r>
              <a:rPr lang="en-US" sz="21000" b="1" spc="-42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$0.0011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203950"/>
            <a:ext cx="7240538" cy="142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one complete project on gpt-4o-mini — roughly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929 projects per dollar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Inference is not a cost driver at any plausible volume.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[M][D]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EVALUATION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6518442" cy="116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designed so a published claim cannot drift from the code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76575"/>
            <a:ext cx="160020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286125"/>
            <a:ext cx="40233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7692"/>
              </a:lnSpc>
              <a:buNone/>
            </a:pPr>
            <a:r>
              <a:rPr lang="en-US" sz="5550" b="1" spc="-111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143000" y="3952875"/>
            <a:ext cx="29681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— none calling a live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3286125"/>
            <a:ext cx="40233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7692"/>
              </a:lnSpc>
              <a:buNone/>
            </a:pPr>
            <a:r>
              <a:rPr lang="en-US" sz="5550" b="1" spc="-111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5257800" y="3952875"/>
            <a:ext cx="29681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eval cases, all passing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72600" y="3286125"/>
            <a:ext cx="40233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7692"/>
              </a:lnSpc>
              <a:buNone/>
            </a:pPr>
            <a:r>
              <a:rPr lang="en-US" sz="5550" b="1" spc="-11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9372600" y="3952875"/>
            <a:ext cx="29681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invariants that fail the build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87400" y="3286125"/>
            <a:ext cx="40233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7692"/>
              </a:lnSpc>
              <a:buNone/>
            </a:pPr>
            <a:r>
              <a:rPr lang="en-US" sz="5550" b="1" spc="-11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0.65:1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3487400" y="3952875"/>
            <a:ext cx="29681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test-to-application code ratio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124450"/>
            <a:ext cx="932686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272187"/>
            <a:ext cx="10259546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 covers the failure modes that matter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5920978"/>
            <a:ext cx="7596982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702849"/>
            <a:ext cx="7975680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39982" y="5920978"/>
            <a:ext cx="172987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57494" y="5702849"/>
            <a:ext cx="1521867" cy="192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21429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6247606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6009037"/>
            <a:ext cx="7975680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brief proceeds without interrogation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8739982" y="6247606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57494" y="6009037"/>
            <a:ext cx="1521867" cy="20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43000" y="6555185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6322965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brief asks one field, in published priority order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8739982" y="6555185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757494" y="6322965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143000" y="6862763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6630543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 gaps do not trigger a question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8739982" y="6862763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757494" y="6630543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143000" y="7170341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33500" y="6938121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feasibility, incl. past and impossible dates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739982" y="7170341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757494" y="6938121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43000" y="7176691"/>
            <a:ext cx="9326860" cy="307578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000" y="7477919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7245700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differently from </a:t>
            </a:r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8739982" y="7477919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757494" y="7245700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12, 14, 15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143000" y="7785497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33500" y="7553277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gates: impossibilities excluded, never ranked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8739982" y="7785497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757494" y="7553277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16–17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43000" y="8093075"/>
            <a:ext cx="75969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333500" y="7860856"/>
            <a:ext cx="7975680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MOQ, and the funnel over the real dataset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8739982" y="8093075"/>
            <a:ext cx="17298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757494" y="7860856"/>
            <a:ext cx="1521867" cy="201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18–19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0927061" y="5124450"/>
            <a:ext cx="621794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927061" y="5272187"/>
            <a:ext cx="6839734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end-to-end, verified </a:t>
            </a:r>
            <a:pPr algn="l" indent="0" marL="0">
              <a:lnSpc>
                <a:spcPct val="93750"/>
              </a:lnSpc>
              <a:buNone/>
            </a:pPr>
            <a:r>
              <a:rPr lang="en-US" sz="1800" b="1" spc="-3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[M]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0927061" y="5581254"/>
            <a:ext cx="6404478" cy="89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then a RAG-grounded method —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heat_transfer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high confidence, correct documents cited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0927061" y="6581279"/>
            <a:ext cx="6404478" cy="5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eligible of 7 candidates, each with a computed breakdown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0927061" y="7238405"/>
            <a:ext cx="6404478" cy="5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generated unapproved, completed only on approval. Zero errors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927061" y="7855546"/>
            <a:ext cx="6404478" cy="1236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eval does not claim: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weighting is correct. Whether material compatibility deserves 20 of 100 points is a question for customer evidence, not a test.</a:t>
            </a:r>
            <a:endParaRPr lang="en-US" sz="195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CHALLENGES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6518442" cy="116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production defects shared one root cause: a code path with no test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765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224312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1 — a 90% match with an expired deadline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3533378"/>
            <a:ext cx="8005572" cy="89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by hand on the deployed site. A supplier scored 90% while the deadline factor read </a:t>
            </a:r>
            <a:pPr algn="l" indent="0" marL="0">
              <a:lnSpc>
                <a:spcPct val="122727"/>
              </a:lnSpc>
              <a:buNone/>
            </a:pPr>
            <a:r>
              <a:rPr lang="en-US" sz="1950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deadline has already passed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fatal, request-wide fact diluted into one of six weighted rows.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493419"/>
            <a:ext cx="8005572" cy="55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cause.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extraction prompt did not require a year-less date to resolve forward, so </a:t>
            </a:r>
            <a:pPr algn="l" indent="0" marL="0">
              <a:lnSpc>
                <a:spcPct val="122727"/>
              </a:lnSpc>
              <a:buNone/>
            </a:pPr>
            <a:r>
              <a:rPr lang="en-US" sz="1950" i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September 15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land in the past.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5110560"/>
            <a:ext cx="8005572" cy="89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net.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guard nulls any deadline earlier than today, after both extraction and the clarification merge. That branch had no test at all; two now exist.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30765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224312"/>
            <a:ext cx="8549640" cy="242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2 — an opaque HTTP 500 in production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3533378"/>
            <a:ext cx="8005572" cy="1236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generate_image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only the API call in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response parsing ran unguarded, so an unexpected response shape raised a raw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AttributeError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caller's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LLMError </a:t>
            </a:r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never catch.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2600" y="4836319"/>
            <a:ext cx="8005572" cy="89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had zero direct tests, which is precisely how it shipped. </a:t>
            </a:r>
            <a:pPr algn="l" indent="0" marL="0">
              <a:lnSpc>
                <a:spcPct val="122727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now exist, two of them regression tests for the exact shapes that used to crash.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6194822"/>
            <a:ext cx="16002000" cy="1066800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6385322"/>
            <a:ext cx="15986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75" dirty="0">
                <a:solidFill>
                  <a:srgbClr val="EAE7E7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status_code=</a:t>
            </a:r>
            <a:pPr algn="l" indent="0" marL="0">
              <a:lnSpc>
                <a:spcPct val="128571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402 </a:t>
            </a:r>
            <a:pPr algn="l" indent="0" marL="0">
              <a:lnSpc>
                <a:spcPct val="128571"/>
              </a:lnSpc>
              <a:buNone/>
            </a:pPr>
            <a:r>
              <a:rPr lang="en-US" sz="1875" dirty="0">
                <a:solidFill>
                  <a:srgbClr val="EAE7E7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body={"error":{"message":"You requested up to 1024 tokens,</a:t>
            </a:r>
            <a:endParaRPr lang="en-US" sz="1875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75" dirty="0">
                <a:solidFill>
                  <a:srgbClr val="EAE7E7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but can only afford 881", ...}}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7542312"/>
            <a:ext cx="15304770" cy="576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7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DIAGNOSABILITY </a:t>
            </a:r>
            <a:pPr algn="l" indent="0" marL="0">
              <a:lnSpc>
                <a:spcPct val="121277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failing call now logs the status code and the provider's raw body, which names its own remedy — converting a recurring mystery into a one-line configuration fix.</a:t>
            </a:r>
            <a:endParaRPr lang="en-US" sz="202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WHAT IS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678" y="1392138"/>
            <a:ext cx="1764105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12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impact on usefulness rather than by effort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998391"/>
            <a:ext cx="60870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84186"/>
            <a:ext cx="227707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51707" y="2998391"/>
            <a:ext cx="2673946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980307" y="2684186"/>
            <a:ext cx="2296964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25653" y="2998391"/>
            <a:ext cx="9690596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654253" y="2684186"/>
            <a:ext cx="9524114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RANKS HERE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116249" y="2998391"/>
            <a:ext cx="1885752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344849" y="2684186"/>
            <a:ext cx="1504752" cy="19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017441"/>
            <a:ext cx="14859000" cy="867966"/>
          </a:xfrm>
          <a:prstGeom prst="rect">
            <a:avLst/>
          </a:prstGeom>
          <a:solidFill>
            <a:srgbClr val="FFE0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3879056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3172660"/>
            <a:ext cx="227707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751707" y="3879056"/>
            <a:ext cx="26739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980307" y="3172660"/>
            <a:ext cx="229696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partner data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425653" y="3879056"/>
            <a:ext cx="969059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654253" y="3172660"/>
            <a:ext cx="952411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synthetic records is the honest gap. This is what turns a prototype into something a buyer can act on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4116249" y="3879056"/>
            <a:ext cx="188575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344849" y="3172660"/>
            <a:ext cx="1504752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43000" y="4740672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4040626"/>
            <a:ext cx="227707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751707" y="4740672"/>
            <a:ext cx="26739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980307" y="4040626"/>
            <a:ext cx="2296964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RFQ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425653" y="4740672"/>
            <a:ext cx="969059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54253" y="4040626"/>
            <a:ext cx="9524114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is complete and human-approved; nothing transmits it. Also the precondition for measuring monetisation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116249" y="4740672"/>
            <a:ext cx="188575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344849" y="4040626"/>
            <a:ext cx="1504752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143000" y="5602288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" y="4902241"/>
            <a:ext cx="227707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751707" y="5602288"/>
            <a:ext cx="26739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980307" y="4902241"/>
            <a:ext cx="2296964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4425653" y="5602288"/>
            <a:ext cx="969059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54253" y="4902241"/>
            <a:ext cx="9524114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are addressable by UUID today — adequate for a single-tenant prototype, not for real users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4116249" y="5602288"/>
            <a:ext cx="188575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4344849" y="4902241"/>
            <a:ext cx="1504752" cy="58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143000" y="6470254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95400" y="5763857"/>
            <a:ext cx="227707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751707" y="6470254"/>
            <a:ext cx="26739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980307" y="5763857"/>
            <a:ext cx="229696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Per-field provenance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4425653" y="6470254"/>
            <a:ext cx="969059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54253" y="5763857"/>
            <a:ext cx="952411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data_source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whole record, not the specific capability a buyer is trusting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4116249" y="6470254"/>
            <a:ext cx="188575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4344849" y="5763857"/>
            <a:ext cx="1504752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143000" y="7338219"/>
            <a:ext cx="6087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295400" y="6631823"/>
            <a:ext cx="227707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1751707" y="7338219"/>
            <a:ext cx="267394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980307" y="6631823"/>
            <a:ext cx="229696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Price-aware matching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4425653" y="7338219"/>
            <a:ext cx="9690596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654253" y="6631823"/>
            <a:ext cx="9524114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Offer.price_from </a:t>
            </a:r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the best-price view, but cost is not one of the six scored factors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4116249" y="7338219"/>
            <a:ext cx="188575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4344849" y="6631823"/>
            <a:ext cx="1504752" cy="58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143000" y="7804944"/>
            <a:ext cx="14859000" cy="146050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09700" y="8014494"/>
            <a:ext cx="14771370" cy="10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8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not built </a:t>
            </a:r>
            <a:pPr algn="l" indent="0" marL="0">
              <a:lnSpc>
                <a:spcPct val="12558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payments, a supplier portal, more production categories. Each would broaden a product with no paying user yet. </a:t>
            </a:r>
            <a:pPr algn="l" indent="0" marL="0">
              <a:lnSpc>
                <a:spcPct val="12558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limitations: </a:t>
            </a:r>
            <a:pPr algn="l" indent="0" marL="0">
              <a:lnSpc>
                <a:spcPct val="12558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supplier data · demo-only offers · no authentication · location scored in tiers rather than by distance · no streaming · one light theme.</a:t>
            </a:r>
            <a:endParaRPr lang="en-US" sz="1875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96735"/>
            <a:ext cx="7012087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E1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CAPSTONE · TURING COLLEGE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34752" y="3713956"/>
            <a:ext cx="17131586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010"/>
              </a:lnSpc>
              <a:buNone/>
            </a:pPr>
            <a:r>
              <a:rPr lang="en-US" sz="14700" b="1" spc="-514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4700" dirty="0"/>
          </a:p>
        </p:txBody>
      </p:sp>
      <p:sp>
        <p:nvSpPr>
          <p:cNvPr id="4" name="Text 2"/>
          <p:cNvSpPr/>
          <p:nvPr/>
        </p:nvSpPr>
        <p:spPr>
          <a:xfrm>
            <a:off x="1143000" y="5696645"/>
            <a:ext cx="791512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writes language. Code owns every fact. 308 tests, 19 of 19 eval cases, $0.0011 per project — and 24 synthetic suppliers still to replace.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9583738"/>
            <a:ext cx="2630398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Ekaterina Kuznetsova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705721" y="9583738"/>
            <a:ext cx="15875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959721" y="9583738"/>
            <a:ext cx="3837275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produceyourstuff.up.railway.app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9604" y="9583738"/>
            <a:ext cx="158750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873603" y="9583738"/>
            <a:ext cx="3613755" cy="20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386"/>
              </a:lnSpc>
              <a:buNone/>
            </a:pPr>
            <a:r>
              <a:rPr lang="en-US" sz="1950" dirty="0">
                <a:solidFill>
                  <a:srgbClr val="F3F2F2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available on request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2026-09-07T20:16:59Z</dcterms:created>
  <dcterms:modified xsi:type="dcterms:W3CDTF">2026-09-07T20:16:59Z</dcterms:modified>
</cp:coreProperties>
</file>